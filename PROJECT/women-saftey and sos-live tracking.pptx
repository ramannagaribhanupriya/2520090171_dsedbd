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sldIdLst>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0" r:id="rId21"/>
    <p:sldId id="275" r:id="rId22"/>
    <p:sldId id="276" r:id="rId23"/>
    <p:sldId id="277" r:id="rId24"/>
    <p:sldId id="278" r:id="rId25"/>
    <p:sldId id="279" r:id="rId26"/>
  </p:sldIdLst>
  <p:sldSz cx="12193588"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547966D1-6186-4C11-87ED-DEA5245FF10F}" type="slidenum">
              <a:rPr/>
              <a:t>‹#›</a:t>
            </a:fld>
            <a:endParaRPr/>
          </a:p>
        </p:txBody>
      </p:sp>
      <p:sp>
        <p:nvSpPr>
          <p:cNvPr id="4" name="PlaceHolder 3"/>
          <p:cNvSpPr>
            <a:spLocks noGrp="1"/>
          </p:cNvSpPr>
          <p:nvPr>
            <p:ph type="dt" idx="1"/>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le1">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39035189-7B72-4954-9386-480EBB297550}" type="slidenum">
              <a:rPr/>
              <a:t>‹#›</a:t>
            </a:fld>
            <a:endParaRPr/>
          </a:p>
        </p:txBody>
      </p:sp>
      <p:sp>
        <p:nvSpPr>
          <p:cNvPr id="4" name="PlaceHolder 3"/>
          <p:cNvSpPr>
            <a:spLocks noGrp="1"/>
          </p:cNvSpPr>
          <p:nvPr>
            <p:ph type="dt" idx="4"/>
          </p:nvPr>
        </p:nvSpPr>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5600" cy="1325520"/>
          </a:xfrm>
          <a:prstGeom prst="rect">
            <a:avLst/>
          </a:prstGeom>
          <a:noFill/>
          <a:ln w="0">
            <a:noFill/>
          </a:ln>
        </p:spPr>
        <p:txBody>
          <a:bodyPr lIns="90000" tIns="46800" rIns="90000" bIns="4680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Calibri Light" panose="020F0302020204030204"/>
              </a:rPr>
              <a:t>Click to edit the title text format</a:t>
            </a:r>
          </a:p>
        </p:txBody>
      </p:sp>
      <p:sp>
        <p:nvSpPr>
          <p:cNvPr id="3" name="PlaceHolder 2"/>
          <p:cNvSpPr>
            <a:spLocks noGrp="1"/>
          </p:cNvSpPr>
          <p:nvPr>
            <p:ph type="body"/>
          </p:nvPr>
        </p:nvSpPr>
        <p:spPr>
          <a:xfrm>
            <a:off x="838080" y="1825200"/>
            <a:ext cx="10515600" cy="4351320"/>
          </a:xfrm>
          <a:prstGeom prst="rect">
            <a:avLst/>
          </a:prstGeom>
          <a:noFill/>
          <a:ln w="0">
            <a:noFill/>
          </a:ln>
        </p:spPr>
        <p:txBody>
          <a:bodyPr lIns="90000" tIns="46800" rIns="90000" bIns="46800"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Click to edit the outline text format</a:t>
            </a:r>
          </a:p>
          <a:p>
            <a:pPr marL="685800" lvl="1"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Second Outline Level</a:t>
            </a:r>
          </a:p>
          <a:p>
            <a:pPr marL="1143000" lvl="2"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Third Outline Level</a:t>
            </a:r>
          </a:p>
          <a:p>
            <a:pPr marL="1600200" lvl="3"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Fourth Outline Level</a:t>
            </a:r>
          </a:p>
          <a:p>
            <a:pPr marL="2057400" lvl="4"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Fifth Outline Level</a:t>
            </a:r>
          </a:p>
          <a:p>
            <a:pPr marL="2057400" lvl="5"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Sixth Outline Level</a:t>
            </a:r>
          </a:p>
          <a:p>
            <a:pPr marL="2057400" lvl="6"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Seventh Outline Level</a:t>
            </a:r>
          </a:p>
        </p:txBody>
      </p:sp>
      <p:sp>
        <p:nvSpPr>
          <p:cNvPr id="4" name="PlaceHolder 3"/>
          <p:cNvSpPr>
            <a:spLocks noGrp="1"/>
          </p:cNvSpPr>
          <p:nvPr>
            <p:ph type="dt" idx="1"/>
          </p:nvPr>
        </p:nvSpPr>
        <p:spPr>
          <a:xfrm>
            <a:off x="838080" y="6356520"/>
            <a:ext cx="2743200" cy="365040"/>
          </a:xfrm>
          <a:prstGeom prst="rect">
            <a:avLst/>
          </a:prstGeom>
          <a:noFill/>
          <a:ln w="0">
            <a:noFill/>
          </a:ln>
        </p:spPr>
        <p:txBody>
          <a:bodyPr lIns="91440" tIns="45720" rIns="91440" bIns="45720" anchor="ctr">
            <a:noAutofit/>
          </a:bodyPr>
          <a:lstStyle>
            <a:lvl1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0" strike="noStrike" spc="-1">
                <a:solidFill>
                  <a:srgbClr val="898989"/>
                </a:solidFill>
                <a:latin typeface="Times New Roman" panose="02020603050405020304"/>
              </a:defRPr>
            </a:lvl1p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552C224-FA68-413D-AE22-0A962D45F829}" type="datetime">
              <a:rPr lang="en-IN" sz="1200" b="0" strike="noStrike" spc="-1">
                <a:solidFill>
                  <a:srgbClr val="898989"/>
                </a:solidFill>
                <a:latin typeface="Times New Roman" panose="02020603050405020304"/>
              </a:rPr>
              <a:t>03-10-2026</a:t>
            </a:fld>
            <a:endParaRPr lang="en-US" sz="1200" b="0" strike="noStrike" spc="-1">
              <a:solidFill>
                <a:srgbClr val="000000"/>
              </a:solidFill>
              <a:latin typeface="Times New Roman" panose="02020603050405020304"/>
            </a:endParaRPr>
          </a:p>
        </p:txBody>
      </p:sp>
      <p:sp>
        <p:nvSpPr>
          <p:cNvPr id="5" name="PlaceHolder 4"/>
          <p:cNvSpPr>
            <a:spLocks noGrp="1"/>
          </p:cNvSpPr>
          <p:nvPr>
            <p:ph type="ftr" idx="2"/>
          </p:nvPr>
        </p:nvSpPr>
        <p:spPr>
          <a:xfrm>
            <a:off x="4038480" y="6356520"/>
            <a:ext cx="4114800" cy="365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Calibri" panose="020F0502020204030204"/>
            </a:endParaRPr>
          </a:p>
        </p:txBody>
      </p:sp>
      <p:sp>
        <p:nvSpPr>
          <p:cNvPr id="6" name="PlaceHolder 5"/>
          <p:cNvSpPr>
            <a:spLocks noGrp="1"/>
          </p:cNvSpPr>
          <p:nvPr>
            <p:ph type="sldNum" idx="3"/>
          </p:nvPr>
        </p:nvSpPr>
        <p:spPr>
          <a:xfrm>
            <a:off x="9067680" y="6176880"/>
            <a:ext cx="2743200" cy="365040"/>
          </a:xfrm>
          <a:prstGeom prst="rect">
            <a:avLst/>
          </a:prstGeom>
          <a:noFill/>
          <a:ln w="0">
            <a:noFill/>
          </a:ln>
        </p:spPr>
        <p:txBody>
          <a:bodyPr lIns="91440" tIns="45720" rIns="91440" bIns="4572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1" strike="noStrike" spc="-1">
                <a:solidFill>
                  <a:srgbClr val="C00000"/>
                </a:solidFill>
                <a:latin typeface="Times New Roman" panose="02020603050405020304"/>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B4B8B13-AF94-4180-A274-66BEC246A8C1}" type="slidenum">
              <a:rPr lang="en-IN" sz="1200" b="1" strike="noStrike" spc="-1">
                <a:solidFill>
                  <a:srgbClr val="C00000"/>
                </a:solidFill>
                <a:latin typeface="Times New Roman" panose="02020603050405020304"/>
              </a:rPr>
              <a:t>‹#›</a:t>
            </a:fld>
            <a:endParaRPr lang="en-US" sz="1200" b="0" strike="noStrike" spc="-1">
              <a:solidFill>
                <a:srgbClr val="000000"/>
              </a:solidFill>
              <a:latin typeface="Times New Roman" panose="02020603050405020304"/>
            </a:endParaRPr>
          </a:p>
        </p:txBody>
      </p:sp>
      <p:sp>
        <p:nvSpPr>
          <p:cNvPr id="7" name="Rectangle 6"/>
          <p:cNvSpPr/>
          <p:nvPr/>
        </p:nvSpPr>
        <p:spPr>
          <a:xfrm>
            <a:off x="0" y="0"/>
            <a:ext cx="12192120" cy="24120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Calibri" panose="020F0502020204030204"/>
            </a:endParaRPr>
          </a:p>
        </p:txBody>
      </p:sp>
      <p:sp>
        <p:nvSpPr>
          <p:cNvPr id="8" name="Rectangle 7"/>
          <p:cNvSpPr/>
          <p:nvPr/>
        </p:nvSpPr>
        <p:spPr>
          <a:xfrm>
            <a:off x="0" y="6553080"/>
            <a:ext cx="12192120" cy="314280"/>
          </a:xfrm>
          <a:prstGeom prst="rect">
            <a:avLst/>
          </a:prstGeom>
          <a:solidFill>
            <a:srgbClr val="5B9BD5"/>
          </a:solidFill>
          <a:ln w="12600">
            <a:solidFill>
              <a:srgbClr val="FFD966"/>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strike="noStrike" spc="-1">
                <a:solidFill>
                  <a:srgbClr val="000000"/>
                </a:solidFill>
                <a:latin typeface="Calibri" panose="020F0502020204030204"/>
              </a:rPr>
              <a:t>MRCET | Department of Emerging Technologies | Application Development-II PPT| III Year B.Tech-II Semester</a:t>
            </a:r>
            <a:endParaRPr lang="en-US" sz="1800" b="0" strike="noStrike" spc="-1">
              <a:solidFill>
                <a:srgbClr val="000000"/>
              </a:solidFill>
              <a:latin typeface="Calibri" panose="020F0502020204030204"/>
            </a:endParaRPr>
          </a:p>
        </p:txBody>
      </p:sp>
      <p:pic>
        <p:nvPicPr>
          <p:cNvPr id="9" name="Picture 8"/>
          <p:cNvPicPr/>
          <p:nvPr/>
        </p:nvPicPr>
        <p:blipFill>
          <a:blip r:embed="rId3"/>
          <a:stretch>
            <a:fillRect/>
          </a:stretch>
        </p:blipFill>
        <p:spPr>
          <a:xfrm>
            <a:off x="11353680" y="0"/>
            <a:ext cx="822600" cy="8222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6"/>
          <p:cNvSpPr/>
          <p:nvPr/>
        </p:nvSpPr>
        <p:spPr>
          <a:xfrm>
            <a:off x="0" y="0"/>
            <a:ext cx="12192120" cy="24120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Calibri" panose="020F0502020204030204"/>
            </a:endParaRPr>
          </a:p>
        </p:txBody>
      </p:sp>
      <p:sp>
        <p:nvSpPr>
          <p:cNvPr id="9" name="Rectangle 7"/>
          <p:cNvSpPr/>
          <p:nvPr/>
        </p:nvSpPr>
        <p:spPr>
          <a:xfrm>
            <a:off x="0" y="6553080"/>
            <a:ext cx="12192120" cy="314280"/>
          </a:xfrm>
          <a:prstGeom prst="rect">
            <a:avLst/>
          </a:prstGeom>
          <a:solidFill>
            <a:srgbClr val="5B9BD5"/>
          </a:solidFill>
          <a:ln w="12600">
            <a:solidFill>
              <a:srgbClr val="FFD966"/>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strike="noStrike" spc="-1">
                <a:solidFill>
                  <a:srgbClr val="000000"/>
                </a:solidFill>
                <a:latin typeface="Calibri" panose="020F0502020204030204"/>
              </a:rPr>
              <a:t>MRCET | Department of Emerging Technologies | Application Development-II PPT| III Year B.Tech-II Semester</a:t>
            </a:r>
            <a:endParaRPr lang="en-US" sz="1800" b="0" strike="noStrike" spc="-1">
              <a:solidFill>
                <a:srgbClr val="000000"/>
              </a:solidFill>
              <a:latin typeface="Calibri" panose="020F0502020204030204"/>
            </a:endParaRPr>
          </a:p>
        </p:txBody>
      </p:sp>
      <p:pic>
        <p:nvPicPr>
          <p:cNvPr id="10" name="Picture 8"/>
          <p:cNvPicPr/>
          <p:nvPr/>
        </p:nvPicPr>
        <p:blipFill>
          <a:blip r:embed="rId3"/>
          <a:stretch>
            <a:fillRect/>
          </a:stretch>
        </p:blipFill>
        <p:spPr>
          <a:xfrm>
            <a:off x="11353680" y="0"/>
            <a:ext cx="822600" cy="822240"/>
          </a:xfrm>
          <a:prstGeom prst="rect">
            <a:avLst/>
          </a:prstGeom>
          <a:ln w="0">
            <a:noFill/>
          </a:ln>
        </p:spPr>
      </p:pic>
      <p:sp>
        <p:nvSpPr>
          <p:cNvPr id="11" name="Rectangle 1"/>
          <p:cNvSpPr/>
          <p:nvPr/>
        </p:nvSpPr>
        <p:spPr>
          <a:xfrm>
            <a:off x="0" y="0"/>
            <a:ext cx="12192120" cy="24120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Calibri" panose="020F0502020204030204"/>
            </a:endParaRPr>
          </a:p>
        </p:txBody>
      </p:sp>
      <p:sp>
        <p:nvSpPr>
          <p:cNvPr id="12" name="Rectangle 2"/>
          <p:cNvSpPr/>
          <p:nvPr/>
        </p:nvSpPr>
        <p:spPr>
          <a:xfrm>
            <a:off x="0" y="6553080"/>
            <a:ext cx="12192120" cy="314280"/>
          </a:xfrm>
          <a:prstGeom prst="rect">
            <a:avLst/>
          </a:prstGeom>
          <a:solidFill>
            <a:srgbClr val="5B9BD5"/>
          </a:solidFill>
          <a:ln w="12600">
            <a:solidFill>
              <a:srgbClr val="FFD966"/>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strike="noStrike" spc="-1">
                <a:solidFill>
                  <a:srgbClr val="000000"/>
                </a:solidFill>
                <a:latin typeface="Calibri" panose="020F0502020204030204"/>
              </a:rPr>
              <a:t>MRCET | Department of Emerging Technologies | Application Development-II PPT| III Year B.Tech-II Semester</a:t>
            </a:r>
            <a:endParaRPr lang="en-US" sz="1800" b="0" strike="noStrike" spc="-1">
              <a:solidFill>
                <a:srgbClr val="000000"/>
              </a:solidFill>
              <a:latin typeface="Calibri" panose="020F0502020204030204"/>
            </a:endParaRPr>
          </a:p>
        </p:txBody>
      </p:sp>
      <p:pic>
        <p:nvPicPr>
          <p:cNvPr id="13" name="Picture 11"/>
          <p:cNvPicPr/>
          <p:nvPr/>
        </p:nvPicPr>
        <p:blipFill>
          <a:blip r:embed="rId3"/>
          <a:stretch>
            <a:fillRect/>
          </a:stretch>
        </p:blipFill>
        <p:spPr>
          <a:xfrm>
            <a:off x="11353680" y="0"/>
            <a:ext cx="822600" cy="822240"/>
          </a:xfrm>
          <a:prstGeom prst="rect">
            <a:avLst/>
          </a:prstGeom>
          <a:ln w="0">
            <a:noFill/>
          </a:ln>
        </p:spPr>
      </p:pic>
      <p:sp>
        <p:nvSpPr>
          <p:cNvPr id="14" name="PlaceHolder 1"/>
          <p:cNvSpPr>
            <a:spLocks noGrp="1"/>
          </p:cNvSpPr>
          <p:nvPr>
            <p:ph type="title"/>
          </p:nvPr>
        </p:nvSpPr>
        <p:spPr>
          <a:xfrm>
            <a:off x="838080" y="365040"/>
            <a:ext cx="10515600" cy="1325520"/>
          </a:xfrm>
          <a:prstGeom prst="rect">
            <a:avLst/>
          </a:prstGeom>
          <a:noFill/>
          <a:ln w="0">
            <a:noFill/>
          </a:ln>
        </p:spPr>
        <p:txBody>
          <a:bodyPr lIns="90000" tIns="46800" rIns="90000" bIns="4680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Calibri Light" panose="020F0302020204030204"/>
              </a:rPr>
              <a:t>Click to edit the title text format</a:t>
            </a:r>
          </a:p>
        </p:txBody>
      </p:sp>
      <p:sp>
        <p:nvSpPr>
          <p:cNvPr id="15" name="PlaceHolder 2"/>
          <p:cNvSpPr>
            <a:spLocks noGrp="1"/>
          </p:cNvSpPr>
          <p:nvPr>
            <p:ph type="body"/>
          </p:nvPr>
        </p:nvSpPr>
        <p:spPr>
          <a:xfrm>
            <a:off x="838080" y="1825200"/>
            <a:ext cx="10515600" cy="4351320"/>
          </a:xfrm>
          <a:prstGeom prst="rect">
            <a:avLst/>
          </a:prstGeom>
          <a:noFill/>
          <a:ln w="0">
            <a:noFill/>
          </a:ln>
        </p:spPr>
        <p:txBody>
          <a:bodyPr lIns="90000" tIns="46800" rIns="90000" bIns="46800"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Click to edit the outline text format</a:t>
            </a:r>
          </a:p>
          <a:p>
            <a:pPr marL="685800" lvl="1"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Second Outline Level</a:t>
            </a:r>
          </a:p>
          <a:p>
            <a:pPr marL="1143000" lvl="2"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Third Outline Level</a:t>
            </a:r>
          </a:p>
          <a:p>
            <a:pPr marL="1600200" lvl="3"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Fourth Outline Level</a:t>
            </a:r>
          </a:p>
          <a:p>
            <a:pPr marL="2057400" lvl="4"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Fifth Outline Level</a:t>
            </a:r>
          </a:p>
          <a:p>
            <a:pPr marL="2057400" lvl="5"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Sixth Outline Level</a:t>
            </a:r>
          </a:p>
          <a:p>
            <a:pPr marL="2057400" lvl="6"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panose="020F0502020204030204"/>
              </a:rPr>
              <a:t>Seventh Outline Level</a:t>
            </a:r>
          </a:p>
        </p:txBody>
      </p:sp>
      <p:sp>
        <p:nvSpPr>
          <p:cNvPr id="16" name="PlaceHolder 3"/>
          <p:cNvSpPr>
            <a:spLocks noGrp="1"/>
          </p:cNvSpPr>
          <p:nvPr>
            <p:ph type="dt" idx="4"/>
          </p:nvPr>
        </p:nvSpPr>
        <p:spPr>
          <a:xfrm>
            <a:off x="838080" y="6356520"/>
            <a:ext cx="2743200" cy="365040"/>
          </a:xfrm>
          <a:prstGeom prst="rect">
            <a:avLst/>
          </a:prstGeom>
          <a:noFill/>
          <a:ln w="0">
            <a:noFill/>
          </a:ln>
        </p:spPr>
        <p:txBody>
          <a:bodyPr lIns="91440" tIns="45720" rIns="91440" bIns="45720" anchor="ctr">
            <a:noAutofit/>
          </a:bodyPr>
          <a:lstStyle>
            <a:lvl1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0" strike="noStrike" spc="-1">
                <a:solidFill>
                  <a:srgbClr val="898989"/>
                </a:solidFill>
                <a:latin typeface="Times New Roman" panose="02020603050405020304"/>
              </a:defRPr>
            </a:lvl1p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184B6B1-A778-4294-AC5A-E3DC560B63CD}" type="datetime">
              <a:rPr lang="en-IN" sz="1200" b="0" strike="noStrike" spc="-1">
                <a:solidFill>
                  <a:srgbClr val="898989"/>
                </a:solidFill>
                <a:latin typeface="Times New Roman" panose="02020603050405020304"/>
              </a:rPr>
              <a:t>03-10-2026</a:t>
            </a:fld>
            <a:endParaRPr lang="en-US" sz="1200" b="0" strike="noStrike" spc="-1">
              <a:solidFill>
                <a:srgbClr val="000000"/>
              </a:solidFill>
              <a:latin typeface="Times New Roman" panose="02020603050405020304"/>
            </a:endParaRPr>
          </a:p>
        </p:txBody>
      </p:sp>
      <p:sp>
        <p:nvSpPr>
          <p:cNvPr id="17" name="PlaceHolder 4"/>
          <p:cNvSpPr>
            <a:spLocks noGrp="1"/>
          </p:cNvSpPr>
          <p:nvPr>
            <p:ph type="ftr" idx="5"/>
          </p:nvPr>
        </p:nvSpPr>
        <p:spPr>
          <a:xfrm>
            <a:off x="4038480" y="6356520"/>
            <a:ext cx="4114800" cy="365040"/>
          </a:xfrm>
          <a:prstGeom prst="rect">
            <a:avLst/>
          </a:prstGeom>
          <a:noFill/>
          <a:ln w="0">
            <a:noFill/>
          </a:ln>
        </p:spPr>
        <p:txBody>
          <a:bodyPr lIns="91440" tIns="45720" rIns="91440" bIns="4572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Calibri" panose="020F0502020204030204"/>
            </a:endParaRPr>
          </a:p>
        </p:txBody>
      </p:sp>
      <p:sp>
        <p:nvSpPr>
          <p:cNvPr id="18" name="PlaceHolder 5"/>
          <p:cNvSpPr>
            <a:spLocks noGrp="1"/>
          </p:cNvSpPr>
          <p:nvPr>
            <p:ph type="sldNum" idx="6"/>
          </p:nvPr>
        </p:nvSpPr>
        <p:spPr>
          <a:xfrm>
            <a:off x="9067680" y="6176880"/>
            <a:ext cx="2743200" cy="365040"/>
          </a:xfrm>
          <a:prstGeom prst="rect">
            <a:avLst/>
          </a:prstGeom>
          <a:noFill/>
          <a:ln w="0">
            <a:noFill/>
          </a:ln>
        </p:spPr>
        <p:txBody>
          <a:bodyPr lIns="91440" tIns="45720" rIns="91440" bIns="4572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1" strike="noStrike" spc="-1">
                <a:solidFill>
                  <a:srgbClr val="C00000"/>
                </a:solidFill>
                <a:latin typeface="Times New Roman" panose="02020603050405020304"/>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E4BF5B6-81EB-4372-981B-2F2E53CB290F}" type="slidenum">
              <a:rPr lang="en-IN" sz="1200" b="1" strike="noStrike" spc="-1">
                <a:solidFill>
                  <a:srgbClr val="C00000"/>
                </a:solidFill>
                <a:latin typeface="Times New Roman" panose="02020603050405020304"/>
              </a:rPr>
              <a:t>‹#›</a:t>
            </a:fld>
            <a:endParaRPr lang="en-US" sz="1200" b="0" strike="noStrike" spc="-1">
              <a:solidFill>
                <a:srgbClr val="000000"/>
              </a:solidFill>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lide Number Placeholder 3"/>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ED98D99-2F0E-4ECC-AA16-0792D9FD6984}" type="slidenum">
              <a:rPr lang="en-IN" sz="1200" b="1" strike="noStrike" spc="-1">
                <a:solidFill>
                  <a:srgbClr val="C00000"/>
                </a:solidFill>
                <a:latin typeface="Calibri" panose="020F0502020204030204"/>
              </a:rPr>
              <a:t>1</a:t>
            </a:fld>
            <a:endParaRPr lang="en-US" sz="1200" b="0" strike="noStrike" spc="-1">
              <a:solidFill>
                <a:srgbClr val="000000"/>
              </a:solidFill>
              <a:latin typeface="Calibri" panose="020F0502020204030204"/>
            </a:endParaRPr>
          </a:p>
        </p:txBody>
      </p:sp>
      <p:sp>
        <p:nvSpPr>
          <p:cNvPr id="21"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dirty="0">
                <a:solidFill>
                  <a:srgbClr val="000000"/>
                </a:solidFill>
                <a:latin typeface="Arial Rounded MT Bold" panose="020F0704030504030204"/>
              </a:rPr>
              <a:t>CSIT – Section </a:t>
            </a:r>
            <a:r>
              <a:rPr lang="en-IN" sz="1600" b="1" spc="-1" dirty="0">
                <a:solidFill>
                  <a:srgbClr val="000000"/>
                </a:solidFill>
                <a:latin typeface="Arial Rounded MT Bold" panose="020F0704030504030204"/>
              </a:rPr>
              <a:t>13 </a:t>
            </a:r>
            <a:r>
              <a:rPr lang="en-IN" sz="1600" b="1" strike="noStrike" spc="-1" dirty="0">
                <a:solidFill>
                  <a:srgbClr val="000000"/>
                </a:solidFill>
                <a:latin typeface="Arial Rounded MT Bold" panose="020F0704030504030204"/>
              </a:rPr>
              <a:t>| Dept of CSIT | Project Review</a:t>
            </a:r>
            <a:endParaRPr lang="en-US" sz="1600" b="0" strike="noStrike" spc="-1" dirty="0">
              <a:solidFill>
                <a:srgbClr val="000000"/>
              </a:solidFill>
              <a:latin typeface="Calibri" panose="020F0502020204030204"/>
            </a:endParaRPr>
          </a:p>
        </p:txBody>
      </p:sp>
      <p:sp>
        <p:nvSpPr>
          <p:cNvPr id="22" name="Rounded Rectangle 4"/>
          <p:cNvSpPr/>
          <p:nvPr/>
        </p:nvSpPr>
        <p:spPr>
          <a:xfrm>
            <a:off x="-15840" y="-128520"/>
            <a:ext cx="1220796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Calibri" panose="020F0502020204030204"/>
            </a:endParaRPr>
          </a:p>
        </p:txBody>
      </p:sp>
      <p:sp>
        <p:nvSpPr>
          <p:cNvPr id="23" name="Rectangle 7"/>
          <p:cNvSpPr/>
          <p:nvPr/>
        </p:nvSpPr>
        <p:spPr>
          <a:xfrm>
            <a:off x="11261880" y="270000"/>
            <a:ext cx="914400" cy="550800"/>
          </a:xfrm>
          <a:prstGeom prst="rect">
            <a:avLst/>
          </a:prstGeom>
          <a:solidFill>
            <a:srgbClr val="FFFFFF"/>
          </a:solidFill>
          <a:ln w="12600">
            <a:solidFill>
              <a:srgbClr val="FFFFFF"/>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strike="noStrike" spc="-1">
              <a:solidFill>
                <a:srgbClr val="000000"/>
              </a:solidFill>
              <a:latin typeface="Calibri" panose="020F0502020204030204"/>
            </a:endParaRPr>
          </a:p>
        </p:txBody>
      </p:sp>
      <p:sp>
        <p:nvSpPr>
          <p:cNvPr id="24" name="PlaceHolder 2"/>
          <p:cNvSpPr>
            <a:spLocks noGrp="1"/>
          </p:cNvSpPr>
          <p:nvPr>
            <p:ph type="subTitle"/>
          </p:nvPr>
        </p:nvSpPr>
        <p:spPr>
          <a:xfrm>
            <a:off x="1611360" y="1939680"/>
            <a:ext cx="9385200" cy="4653000"/>
          </a:xfrm>
          <a:prstGeom prst="rect">
            <a:avLst/>
          </a:prstGeom>
          <a:noFill/>
          <a:ln w="0">
            <a:noFill/>
          </a:ln>
        </p:spPr>
        <p:txBody>
          <a:bodyPr lIns="91440" tIns="45720" rIns="91440" bIns="45720" anchor="t">
            <a:noAutofit/>
          </a:bodyPr>
          <a:lstStyle/>
          <a:p>
            <a:pPr algn="ctr">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strike="noStrike" spc="-1" dirty="0">
                <a:solidFill>
                  <a:srgbClr val="548235"/>
                </a:solidFill>
                <a:latin typeface="Calibri" panose="020F0502020204030204"/>
              </a:rPr>
              <a:t>WOMEN SAFETY – SOS AND LIVE TRACKING</a:t>
            </a:r>
            <a:endParaRPr lang="en-US" sz="3200" b="0" strike="noStrike" spc="-1" dirty="0">
              <a:solidFill>
                <a:srgbClr val="000000"/>
              </a:solidFill>
              <a:latin typeface="Calibri" panose="020F0502020204030204"/>
            </a:endParaRPr>
          </a:p>
          <a:p>
            <a:pPr algn="ctr">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400" b="1" strike="noStrike" spc="-1" dirty="0">
                <a:solidFill>
                  <a:srgbClr val="FF0000"/>
                </a:solidFill>
                <a:latin typeface="Calibri" panose="020F0502020204030204"/>
              </a:rPr>
              <a:t>Team Members Details</a:t>
            </a:r>
          </a:p>
          <a:p>
            <a:pPr algn="ctr">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altLang="en-US" sz="2400" b="1" strike="noStrike" dirty="0">
              <a:solidFill>
                <a:srgbClr val="000000"/>
              </a:solidFill>
              <a:latin typeface="Calibri" panose="020F0502020204030204"/>
              <a:sym typeface="+mn-ea"/>
            </a:endParaRPr>
          </a:p>
          <a:p>
            <a:pPr algn="ctr">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sz="2400" b="1" strike="noStrike" dirty="0">
                <a:solidFill>
                  <a:srgbClr val="000000"/>
                </a:solidFill>
                <a:latin typeface="Calibri" panose="020F0502020204030204"/>
                <a:sym typeface="+mn-ea"/>
              </a:rPr>
              <a:t>D Manya Akshitha-2520090032</a:t>
            </a:r>
            <a:endParaRPr lang="en-US" sz="2400" b="0" strike="noStrike" spc="-1" dirty="0">
              <a:solidFill>
                <a:srgbClr val="000000"/>
              </a:solidFill>
              <a:latin typeface="Calibri" panose="020F0502020204030204"/>
            </a:endParaRPr>
          </a:p>
          <a:p>
            <a:pPr algn="ctr">
              <a:lnSpc>
                <a:spcPct val="5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altLang="en-US" sz="2400" b="1" strike="noStrike" spc="-1" dirty="0">
                <a:solidFill>
                  <a:srgbClr val="000000"/>
                </a:solidFill>
                <a:latin typeface="Calibri" panose="020F0502020204030204"/>
              </a:rPr>
              <a:t>P </a:t>
            </a:r>
            <a:r>
              <a:rPr lang="en-IN" altLang="en-US" sz="2400" b="1" strike="noStrike" spc="-1" dirty="0" err="1">
                <a:solidFill>
                  <a:srgbClr val="000000"/>
                </a:solidFill>
                <a:latin typeface="Calibri" panose="020F0502020204030204"/>
              </a:rPr>
              <a:t>Nirvighna</a:t>
            </a:r>
            <a:r>
              <a:rPr lang="en-IN" altLang="en-US" sz="2400" b="1" strike="noStrike" spc="-1" dirty="0">
                <a:solidFill>
                  <a:srgbClr val="000000"/>
                </a:solidFill>
                <a:latin typeface="Calibri" panose="020F0502020204030204"/>
              </a:rPr>
              <a:t> Sai-2520090144</a:t>
            </a:r>
          </a:p>
          <a:p>
            <a:pPr algn="ctr">
              <a:lnSpc>
                <a:spcPct val="5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dirty="0">
                <a:solidFill>
                  <a:srgbClr val="000000"/>
                </a:solidFill>
                <a:latin typeface="Calibri" panose="020F0502020204030204"/>
                <a:sym typeface="+mn-ea"/>
              </a:rPr>
              <a:t>R</a:t>
            </a:r>
            <a:r>
              <a:rPr lang="en-IN" altLang="en-US" sz="2400" b="1" strike="noStrike" dirty="0">
                <a:solidFill>
                  <a:srgbClr val="000000"/>
                </a:solidFill>
                <a:latin typeface="Calibri" panose="020F0502020204030204"/>
                <a:sym typeface="+mn-ea"/>
              </a:rPr>
              <a:t> </a:t>
            </a:r>
            <a:r>
              <a:rPr lang="en-US" sz="2400" b="1" strike="noStrike" dirty="0">
                <a:solidFill>
                  <a:srgbClr val="000000"/>
                </a:solidFill>
                <a:latin typeface="Calibri" panose="020F0502020204030204"/>
                <a:sym typeface="+mn-ea"/>
              </a:rPr>
              <a:t>Bhanu Priya – 2520090171</a:t>
            </a:r>
            <a:endParaRPr lang="en-US" sz="2400" b="1" strike="noStrike" spc="-1" dirty="0">
              <a:solidFill>
                <a:srgbClr val="000000"/>
              </a:solidFill>
              <a:latin typeface="Calibri" panose="020F0502020204030204"/>
            </a:endParaRPr>
          </a:p>
          <a:p>
            <a:pPr algn="ctr">
              <a:lnSpc>
                <a:spcPct val="5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Calibri" panose="020F0502020204030204"/>
            </a:endParaRPr>
          </a:p>
          <a:p>
            <a:pPr algn="ctr">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400" b="0" strike="noStrike" spc="-1" dirty="0">
                <a:solidFill>
                  <a:srgbClr val="000000"/>
                </a:solidFill>
                <a:latin typeface="Calibri" panose="020F0502020204030204"/>
              </a:rPr>
              <a:t>II Year </a:t>
            </a:r>
            <a:r>
              <a:rPr lang="en-IN" sz="2400" b="0" strike="noStrike" spc="-1" dirty="0" err="1">
                <a:solidFill>
                  <a:srgbClr val="000000"/>
                </a:solidFill>
                <a:latin typeface="Calibri" panose="020F0502020204030204"/>
              </a:rPr>
              <a:t>B.Tech</a:t>
            </a:r>
            <a:r>
              <a:rPr lang="en-IN" sz="2400" b="0" strike="noStrike" spc="-1" dirty="0">
                <a:solidFill>
                  <a:srgbClr val="000000"/>
                </a:solidFill>
                <a:latin typeface="Calibri" panose="020F0502020204030204"/>
              </a:rPr>
              <a:t>-I Semester – CSIT (</a:t>
            </a:r>
            <a:r>
              <a:rPr lang="en-US" sz="2400" b="0" strike="noStrike" spc="-1" dirty="0">
                <a:solidFill>
                  <a:srgbClr val="000000"/>
                </a:solidFill>
                <a:latin typeface="Calibri" panose="020F0502020204030204"/>
              </a:rPr>
              <a:t>Section </a:t>
            </a:r>
            <a:r>
              <a:rPr lang="en-IN" altLang="en-US" sz="2400" b="0" strike="noStrike" spc="-1" dirty="0">
                <a:solidFill>
                  <a:srgbClr val="000000"/>
                </a:solidFill>
                <a:latin typeface="Calibri" panose="020F0502020204030204"/>
              </a:rPr>
              <a:t>13</a:t>
            </a:r>
            <a:r>
              <a:rPr lang="en-IN" sz="2400" b="0" strike="noStrike" spc="-1" dirty="0">
                <a:solidFill>
                  <a:srgbClr val="000000"/>
                </a:solidFill>
                <a:latin typeface="Calibri" panose="020F0502020204030204"/>
              </a:rPr>
              <a:t>)</a:t>
            </a:r>
            <a:endParaRPr lang="en-US" sz="2400" b="0" strike="noStrike" spc="-1" dirty="0">
              <a:solidFill>
                <a:srgbClr val="000000"/>
              </a:solidFill>
              <a:latin typeface="Calibri" panose="020F0502020204030204"/>
            </a:endParaRPr>
          </a:p>
          <a:p>
            <a:pPr algn="ctr">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Calibri" panose="020F0502020204030204"/>
            </a:endParaRPr>
          </a:p>
          <a:p>
            <a:pPr algn="ctr">
              <a:lnSpc>
                <a:spcPct val="5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dirty="0">
              <a:solidFill>
                <a:srgbClr val="000000"/>
              </a:solidFill>
              <a:latin typeface="Calibri" panose="020F0502020204030204"/>
            </a:endParaRPr>
          </a:p>
        </p:txBody>
      </p:sp>
      <p:pic>
        <p:nvPicPr>
          <p:cNvPr id="25" name="Picture 1"/>
          <p:cNvPicPr/>
          <p:nvPr/>
        </p:nvPicPr>
        <p:blipFill>
          <a:blip r:embed="rId2"/>
          <a:stretch>
            <a:fillRect/>
          </a:stretch>
        </p:blipFill>
        <p:spPr>
          <a:xfrm>
            <a:off x="2192400" y="595440"/>
            <a:ext cx="8805960" cy="66672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Abstract</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algn="just">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600" b="0" strike="noStrike" spc="-1">
                <a:solidFill>
                  <a:srgbClr val="000000"/>
                </a:solidFill>
                <a:latin typeface="Times New Roman" panose="02020603050405020304"/>
              </a:rPr>
              <a:t>This system is a mobile application that enhances personal safety for women through an instant SOS alert and live location tracking mechanism. By triggering a single SOS button, the app immediately sends the user's real-time GPS coordinates and an emergency alert to pre-selected trusted contacts. Traditional safety measures such as manual calls can be slow and unreliable during a crisis. This project aims to reduce response time and remove the need for the user to explain the situation while under threat. The live tracking feature continuously shares the user's movement with guardians until the emergency is resolved, improving transparency. This helps families and responders locate the user quickly, promoting faster intervention. The system also improves accessibility by working with minimal interaction during high-stress situations. Ultimately, the app enhances women's safety, leading to quicker response and greater peace of mind.</a:t>
            </a:r>
            <a:endParaRPr lang="en-US" sz="2600" b="0" strike="noStrike" spc="-1">
              <a:solidFill>
                <a:srgbClr val="000000"/>
              </a:solidFill>
              <a:latin typeface="Calibri" panose="020F0502020204030204"/>
            </a:endParaRP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2</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dirty="0" err="1">
                <a:solidFill>
                  <a:srgbClr val="000000"/>
                </a:solidFill>
                <a:latin typeface="Arial Rounded MT Bold" panose="020F0704030504030204"/>
              </a:rPr>
              <a:t>B.Tech</a:t>
            </a:r>
            <a:r>
              <a:rPr lang="en-IN" sz="1600" b="1" strike="noStrike" spc="-1" dirty="0">
                <a:solidFill>
                  <a:srgbClr val="000000"/>
                </a:solidFill>
                <a:latin typeface="Arial Rounded MT Bold" panose="020F0704030504030204"/>
              </a:rPr>
              <a:t> II Year – I Sem | Dept of CSIT | Project Review</a:t>
            </a:r>
            <a:endParaRPr lang="en-US" sz="1600" b="0" strike="noStrike" spc="-1" dirty="0">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Problem Statement</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algn="just">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600" b="0" strike="noStrike" spc="-1">
                <a:solidFill>
                  <a:srgbClr val="000000"/>
                </a:solidFill>
                <a:latin typeface="Times New Roman" panose="02020603050405020304"/>
              </a:rPr>
              <a:t>Women and girls travelling alone, commuting late at night, or moving through isolated areas face a genuine and persistent risk of harassment, stalking, and assault. When an emergency strikes, the existing options are slow and clumsy: dialling a number, explaining the situation under panic, and hoping the call connects and is understood in time. Standard mobile phones offer no dedicated, single-action way to alert multiple trusted people at once with an exact location. Family members are frequently left unaware of a loved one's whereabouts during a commute, and by the time help is arranged, precious minutes have already been lost. There is a clear need for a lightweight mobile application that lets a woman in distress raise an alarm instantly, with one tap, and that keeps her trusted circle continuously informed of her live location until she is safe.</a:t>
            </a:r>
            <a:endParaRPr lang="en-US" sz="2600" b="0" strike="noStrike" spc="-1">
              <a:solidFill>
                <a:srgbClr val="000000"/>
              </a:solidFill>
              <a:latin typeface="Calibri" panose="020F0502020204030204"/>
            </a:endParaRP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3</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dirty="0" err="1">
                <a:solidFill>
                  <a:srgbClr val="000000"/>
                </a:solidFill>
                <a:latin typeface="Arial Rounded MT Bold" panose="020F0704030504030204"/>
              </a:rPr>
              <a:t>B.Tech</a:t>
            </a:r>
            <a:r>
              <a:rPr lang="en-IN" sz="1600" b="1" strike="noStrike" spc="-1" dirty="0">
                <a:solidFill>
                  <a:srgbClr val="000000"/>
                </a:solidFill>
                <a:latin typeface="Arial Rounded MT Bold" panose="020F0704030504030204"/>
              </a:rPr>
              <a:t> II Year – I Sem | Dept of CSIT | Project Review</a:t>
            </a:r>
            <a:endParaRPr lang="en-US" sz="1600" b="0" strike="noStrike" spc="-1" dirty="0">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Motivation</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algn="just">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600" b="0" strike="noStrike" spc="-1">
                <a:solidFill>
                  <a:srgbClr val="000000"/>
                </a:solidFill>
                <a:latin typeface="Times New Roman" panose="02020603050405020304"/>
              </a:rPr>
              <a:t>Rising incidents of crime against women in public spaces, public transport, and even familiar neighbourhoods have made personal safety a daily concern rather than an occasional worry. News reports and government crime data repeatedly show that delayed response is one of the biggest factors separating a safe outcome from a tragedy. At the same time, nearly every user already carries a GPS-enabled smartphone, which means the hardware needed to solve this problem is already in people's pockets — what is missing is a simple, dependable piece of software. This project is motivated by the belief that technology can meaningfully shrink the gap between the moment a threat is felt and the moment help is on the way, by replacing multi-step manual actions with one instant, reliable trigger that keeps guardians informed in real time.</a:t>
            </a:r>
            <a:endParaRPr lang="en-US" sz="2600" b="0" strike="noStrike" spc="-1">
              <a:solidFill>
                <a:srgbClr val="000000"/>
              </a:solidFill>
              <a:latin typeface="Calibri" panose="020F0502020204030204"/>
            </a:endParaRP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4</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Objectives</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Design a single-tap SOS mechanism that instantly alerts pre-selected trusted contacts during an emergency</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Implement continuous live GPS location tracking that guardians can follow until the situation is resolved</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Build a simple interface that works reliably with minimal interaction under high-stress conditions</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Provide secure management of emergency contacts, including adding, editing, and removing trusted guardians</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Ensure fast, dependable alert delivery even under limited or unstable network connectivity</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Protect user data and location history with secure storage and privacy-conscious design</a:t>
            </a: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5</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Literature Survey</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lnSpcReduction="10000"/>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Existing safety apps: </a:t>
            </a:r>
            <a:r>
              <a:rPr lang="en-US" sz="2400" b="0" strike="noStrike" spc="-1">
                <a:solidFill>
                  <a:srgbClr val="000000"/>
                </a:solidFill>
                <a:latin typeface="Calibri" panose="020F0502020204030204"/>
              </a:rPr>
              <a:t>Commercial apps such as bSafe and similar SOS tools were studied; most provide a one-time location share rather than a continuously updated live trail</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Panic-button research: </a:t>
            </a:r>
            <a:r>
              <a:rPr lang="en-US" sz="2400" b="0" strike="noStrike" spc="-1">
                <a:solidFill>
                  <a:srgbClr val="000000"/>
                </a:solidFill>
                <a:latin typeface="Calibri" panose="020F0502020204030204"/>
              </a:rPr>
              <a:t>Academic studies on panic-button systems show that reducing the number of taps required to raise an alarm significantly improves usability during a crisis</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GPS tracking systems: </a:t>
            </a:r>
            <a:r>
              <a:rPr lang="en-US" sz="2400" b="0" strike="noStrike" spc="-1">
                <a:solidFill>
                  <a:srgbClr val="000000"/>
                </a:solidFill>
                <a:latin typeface="Calibri" panose="020F0502020204030204"/>
              </a:rPr>
              <a:t>Prior work on fleet and child-tracking applications informed the design of the continuous location-sharing module used in this project</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Push-notification architectures: </a:t>
            </a:r>
            <a:r>
              <a:rPr lang="en-US" sz="2400" b="0" strike="noStrike" spc="-1">
                <a:solidFill>
                  <a:srgbClr val="000000"/>
                </a:solidFill>
                <a:latin typeface="Calibri" panose="020F0502020204030204"/>
              </a:rPr>
              <a:t>Literature on real-time messaging (e.g. Firebase Cloud Messaging based systems) guided the choice of a lightweight backend for instant contact alerts</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Gap identified: </a:t>
            </a:r>
            <a:r>
              <a:rPr lang="en-US" sz="2400" b="0" strike="noStrike" spc="-1">
                <a:solidFill>
                  <a:srgbClr val="000000"/>
                </a:solidFill>
                <a:latin typeface="Calibri" panose="020F0502020204030204"/>
              </a:rPr>
              <a:t>Across the surveyed systems, none combined one-tap SOS, continuous live tracking, and low-connectivity reliability into a single seamless application</a:t>
            </a: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6</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Research Gap</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algn="just">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600" b="0" strike="noStrike" spc="-1">
                <a:solidFill>
                  <a:srgbClr val="000000"/>
                </a:solidFill>
                <a:latin typeface="Times New Roman" panose="02020603050405020304"/>
              </a:rPr>
              <a:t>The literature survey shows that while several individual pieces of the safety puzzle already exist, no single application combines them well. Most SOS apps stop at sending one location update and then go silent, leaving guardians unable to follow the user's actual movement. Systems that do offer continuous tracking are often built for logistics or parental control, not for a panic situation, so they require too many steps to activate quickly. Very few solutions are designed to keep working when the network is weak, which is exactly when many real emergencies occur. There is also little attention paid to keeping the interaction minimal — most apps still expect the user to navigate menus rather than react instinctively. This project addresses that gap by combining a true one-tap trigger, continuous live tracking, and connectivity-aware alert delivery into a single, purpose-built mobile application.</a:t>
            </a:r>
            <a:endParaRPr lang="en-US" sz="2600" b="0" strike="noStrike" spc="-1">
              <a:solidFill>
                <a:srgbClr val="000000"/>
              </a:solidFill>
              <a:latin typeface="Calibri" panose="020F0502020204030204"/>
            </a:endParaRP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7</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Proposed Methodology</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Requirement analysis: </a:t>
            </a:r>
            <a:r>
              <a:rPr lang="en-US" sz="2400" b="0" strike="noStrike" spc="-1">
                <a:solidFill>
                  <a:srgbClr val="000000"/>
                </a:solidFill>
                <a:latin typeface="Calibri" panose="020F0502020204030204"/>
              </a:rPr>
              <a:t>Study existing safety solutions and identify functional and non-functional requirements for the SOS and tracking features</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System design: </a:t>
            </a:r>
            <a:r>
              <a:rPr lang="en-US" sz="2400" b="0" strike="noStrike" spc="-1">
                <a:solidFill>
                  <a:srgbClr val="000000"/>
                </a:solidFill>
                <a:latin typeface="Calibri" panose="020F0502020204030204"/>
              </a:rPr>
              <a:t>Design a layered client-server architecture separating the mobile app, communication layer, backend server, and database</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Module development: </a:t>
            </a:r>
            <a:r>
              <a:rPr lang="en-US" sz="2400" b="0" strike="noStrike" spc="-1">
                <a:solidFill>
                  <a:srgbClr val="000000"/>
                </a:solidFill>
                <a:latin typeface="Calibri" panose="020F0502020204030204"/>
              </a:rPr>
              <a:t>Build the SOS trigger, live-tracking, and contact-management modules independently, then integrate them into one application</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Location and alerting: </a:t>
            </a:r>
            <a:r>
              <a:rPr lang="en-US" sz="2400" b="0" strike="noStrike" spc="-1">
                <a:solidFill>
                  <a:srgbClr val="000000"/>
                </a:solidFill>
                <a:latin typeface="Calibri" panose="020F0502020204030204"/>
              </a:rPr>
              <a:t>Use device GPS/location services on the client and a push-notification service on the backend to deliver near-instant alerts</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Testing: </a:t>
            </a:r>
            <a:r>
              <a:rPr lang="en-US" sz="2400" b="0" strike="noStrike" spc="-1">
                <a:solidFill>
                  <a:srgbClr val="000000"/>
                </a:solidFill>
                <a:latin typeface="Calibri" panose="020F0502020204030204"/>
              </a:rPr>
              <a:t>Validate each module under normal and low-connectivity conditions, and measure response time from trigger to contact notification</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Refinement: </a:t>
            </a:r>
            <a:r>
              <a:rPr lang="en-US" sz="2400" b="0" strike="noStrike" spc="-1">
                <a:solidFill>
                  <a:srgbClr val="000000"/>
                </a:solidFill>
                <a:latin typeface="Calibri" panose="020F0502020204030204"/>
              </a:rPr>
              <a:t>Iterate on interface and performance based on test results to keep the interaction minimal and dependable under stress</a:t>
            </a: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8</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 Box 34"/>
          <p:cNvSpPr txBox="1"/>
          <p:nvPr/>
        </p:nvSpPr>
        <p:spPr>
          <a:xfrm>
            <a:off x="838080" y="1080720"/>
            <a:ext cx="10515600" cy="5095800"/>
          </a:xfrm>
          <a:prstGeom prst="rect">
            <a:avLst/>
          </a:prstGeom>
          <a:noFill/>
          <a:ln w="0">
            <a:noFill/>
          </a:ln>
        </p:spPr>
        <p:txBody>
          <a:bodyPr anchor="t">
            <a:normAutofit/>
          </a:bodyPr>
          <a:lstStyle/>
          <a:p>
            <a:pPr algn="just">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600" b="0" strike="noStrike" spc="-1" dirty="0">
              <a:solidFill>
                <a:srgbClr val="000000"/>
              </a:solidFill>
              <a:latin typeface="Calibri" panose="020F0502020204030204"/>
            </a:endParaRP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9</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pic>
        <p:nvPicPr>
          <p:cNvPr id="3" name="Picture 2">
            <a:extLst>
              <a:ext uri="{FF2B5EF4-FFF2-40B4-BE49-F238E27FC236}">
                <a16:creationId xmlns:a16="http://schemas.microsoft.com/office/drawing/2014/main" id="{76E233BF-B946-08CB-BAA1-3C4F85F68DC9}"/>
              </a:ext>
            </a:extLst>
          </p:cNvPr>
          <p:cNvPicPr>
            <a:picLocks noChangeAspect="1"/>
          </p:cNvPicPr>
          <p:nvPr/>
        </p:nvPicPr>
        <p:blipFill>
          <a:blip r:embed="rId3"/>
          <a:stretch>
            <a:fillRect/>
          </a:stretch>
        </p:blipFill>
        <p:spPr>
          <a:xfrm>
            <a:off x="1194956" y="497188"/>
            <a:ext cx="9298324" cy="58100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Technologies Used</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Frontend: </a:t>
            </a:r>
            <a:r>
              <a:rPr lang="en-US" sz="2400" b="0" strike="noStrike" spc="-1">
                <a:solidFill>
                  <a:srgbClr val="000000"/>
                </a:solidFill>
                <a:latin typeface="Calibri" panose="020F0502020204030204"/>
              </a:rPr>
              <a:t>Android/iOS mobile app development framework for building the SOS and tracking interface</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Location services: </a:t>
            </a:r>
            <a:r>
              <a:rPr lang="en-US" sz="2400" b="0" strike="noStrike" spc="-1">
                <a:solidFill>
                  <a:srgbClr val="000000"/>
                </a:solidFill>
                <a:latin typeface="Calibri" panose="020F0502020204030204"/>
              </a:rPr>
              <a:t>Device GPS and mapping/location APIs for capturing and streaming real-time coordinates</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Backend: </a:t>
            </a:r>
            <a:r>
              <a:rPr lang="en-US" sz="2400" b="0" strike="noStrike" spc="-1">
                <a:solidFill>
                  <a:srgbClr val="000000"/>
                </a:solidFill>
                <a:latin typeface="Calibri" panose="020F0502020204030204"/>
              </a:rPr>
              <a:t>Server-side application handling authentication, alert processing, and location updates</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Database: </a:t>
            </a:r>
            <a:r>
              <a:rPr lang="en-US" sz="2400" b="0" strike="noStrike" spc="-1">
                <a:solidFill>
                  <a:srgbClr val="000000"/>
                </a:solidFill>
                <a:latin typeface="Calibri" panose="020F0502020204030204"/>
              </a:rPr>
              <a:t>Cloud/relational database for storing user profiles, emergency contacts, and location history</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Notifications: </a:t>
            </a:r>
            <a:r>
              <a:rPr lang="en-US" sz="2400" b="0" strike="noStrike" spc="-1">
                <a:solidFill>
                  <a:srgbClr val="000000"/>
                </a:solidFill>
                <a:latin typeface="Calibri" panose="020F0502020204030204"/>
              </a:rPr>
              <a:t>Push-notification service for delivering instant SOS alerts to trusted contacts</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Security: </a:t>
            </a:r>
            <a:r>
              <a:rPr lang="en-US" sz="2400" b="0" strike="noStrike" spc="-1">
                <a:solidFill>
                  <a:srgbClr val="000000"/>
                </a:solidFill>
                <a:latin typeface="Calibri" panose="020F0502020204030204"/>
              </a:rPr>
              <a:t>Encrypted data transmission and secure storage to protect location and contact information</a:t>
            </a: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10</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Dataset / Input Details</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User profile data: </a:t>
            </a:r>
            <a:r>
              <a:rPr lang="en-US" sz="2400" b="0" strike="noStrike" spc="-1">
                <a:solidFill>
                  <a:srgbClr val="000000"/>
                </a:solidFill>
                <a:latin typeface="Calibri" panose="020F0502020204030204"/>
              </a:rPr>
              <a:t>Name, phone number, and login credentials captured at registration</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Emergency contact data: </a:t>
            </a:r>
            <a:r>
              <a:rPr lang="en-US" sz="2400" b="0" strike="noStrike" spc="-1">
                <a:solidFill>
                  <a:srgbClr val="000000"/>
                </a:solidFill>
                <a:latin typeface="Calibri" panose="020F0502020204030204"/>
              </a:rPr>
              <a:t>Names and phone numbers of trusted guardians added and managed by the user</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Location data: </a:t>
            </a:r>
            <a:r>
              <a:rPr lang="en-US" sz="2400" b="0" strike="noStrike" spc="-1">
                <a:solidFill>
                  <a:srgbClr val="000000"/>
                </a:solidFill>
                <a:latin typeface="Calibri" panose="020F0502020204030204"/>
              </a:rPr>
              <a:t>Real-time latitude/longitude coordinates streamed continuously from the device GPS during an active alert</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Event data: </a:t>
            </a:r>
            <a:r>
              <a:rPr lang="en-US" sz="2400" b="0" strike="noStrike" spc="-1">
                <a:solidFill>
                  <a:srgbClr val="000000"/>
                </a:solidFill>
                <a:latin typeface="Calibri" panose="020F0502020204030204"/>
              </a:rPr>
              <a:t>Timestamped SOS trigger events, alert status, and delivery confirmations used for tracking and evaluation</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Test data: </a:t>
            </a:r>
            <a:r>
              <a:rPr lang="en-US" sz="2400" b="0" strike="noStrike" spc="-1">
                <a:solidFill>
                  <a:srgbClr val="000000"/>
                </a:solidFill>
                <a:latin typeface="Calibri" panose="020F0502020204030204"/>
              </a:rPr>
              <a:t>Simulated SOS scenarios and varied network conditions used during experimental evaluation of the system</a:t>
            </a: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11</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Implementation – SOS Trigger Module</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algn="just">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600" b="0" strike="noStrike" spc="-1">
                <a:solidFill>
                  <a:srgbClr val="000000"/>
                </a:solidFill>
                <a:latin typeface="Times New Roman" panose="02020603050405020304"/>
              </a:rPr>
              <a:t>The SOS Trigger Module is the entry point of the application and is designed to work with a single tap. When the user presses the SOS button, the module immediately captures the device's current GPS coordinates and packages them with the user's identity into an alert request. This request is sent to the backend server over a lightweight, low-latency connection so that the trigger-to-transmission time stays minimal even under stress. The module is intentionally kept free of confirmation dialogs or multi-step menus, since every extra tap increases response time during a genuine emergency. Once the alert is sent, the module hands off control to the live-tracking module so that location sharing begins automatically without any further action from the user.</a:t>
            </a:r>
            <a:endParaRPr lang="en-US" sz="2600" b="0" strike="noStrike" spc="-1">
              <a:solidFill>
                <a:srgbClr val="000000"/>
              </a:solidFill>
              <a:latin typeface="Calibri" panose="020F0502020204030204"/>
            </a:endParaRP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12</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Implementation – Live Tracking</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algn="just">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600" b="0" strike="noStrike" spc="-1">
                <a:solidFill>
                  <a:srgbClr val="000000"/>
                </a:solidFill>
                <a:latin typeface="Times New Roman" panose="02020603050405020304"/>
              </a:rPr>
              <a:t>The Live Location Tracking Module takes over once an SOS alert is active. It continuously reads the device's GPS position at short, regular intervals and streams these updates to the backend server, which in turn keeps the trusted contacts' view of the user's location current. This continuous stream, rather than a single snapshot, is what allows guardians to follow the user's actual movement — for example, tracing a route home — instead of seeing only where the emergency began. The module is optimised to balance location accuracy with battery and data usage, and it keeps running in the background even if the user locks the screen or switches to another app. Tracking automatically stops once the user marks herself safe or the alert is manually cancelled.</a:t>
            </a:r>
            <a:endParaRPr lang="en-US" sz="2600" b="0" strike="noStrike" spc="-1">
              <a:solidFill>
                <a:srgbClr val="000000"/>
              </a:solidFill>
              <a:latin typeface="Calibri" panose="020F0502020204030204"/>
            </a:endParaRP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13</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Implementation – Contact Module</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algn="just">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600" b="0" strike="noStrike" spc="-1">
                <a:solidFill>
                  <a:srgbClr val="000000"/>
                </a:solidFill>
                <a:latin typeface="Times New Roman" panose="02020603050405020304"/>
              </a:rPr>
              <a:t>The Contact and Notification Module manages the list of trusted guardians and is responsible for delivering alerts reliably. Users can add, edit, or remove emergency contacts at any time through a simple interface, and these contacts are stored securely on the backend. When an SOS is triggered, this module retrieves the current contact list and dispatches alert notifications — including the user's live location link — through a push-notification service, falling back to SMS where push delivery is not possible. Delivery status for each contact is tracked so the user's device can confirm that guardians have actually received the alert. The module also throttles and deduplicates location updates sent to contacts, keeping notifications timely without overwhelming the guardians' devices.</a:t>
            </a:r>
            <a:endParaRPr lang="en-US" sz="2600" b="0" strike="noStrike" spc="-1">
              <a:solidFill>
                <a:srgbClr val="000000"/>
              </a:solidFill>
              <a:latin typeface="Calibri" panose="020F0502020204030204"/>
            </a:endParaRP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14</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Experimental Setup</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Devices: </a:t>
            </a:r>
            <a:r>
              <a:rPr lang="en-US" sz="2400" b="0" strike="noStrike" spc="-1">
                <a:solidFill>
                  <a:srgbClr val="000000"/>
                </a:solidFill>
                <a:latin typeface="Calibri" panose="020F0502020204030204"/>
              </a:rPr>
              <a:t>Mid-range Android smartphones with GPS enabled, used to simulate typical end-user hardware</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Network conditions: </a:t>
            </a:r>
            <a:r>
              <a:rPr lang="en-US" sz="2400" b="0" strike="noStrike" spc="-1">
                <a:solidFill>
                  <a:srgbClr val="000000"/>
                </a:solidFill>
                <a:latin typeface="Calibri" panose="020F0502020204030204"/>
              </a:rPr>
              <a:t>Tests run under strong Wi-Fi, moderate 4G, and weak/intermittent mobile data to evaluate reliability</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Test scenarios: </a:t>
            </a:r>
            <a:r>
              <a:rPr lang="en-US" sz="2400" b="0" strike="noStrike" spc="-1">
                <a:solidFill>
                  <a:srgbClr val="000000"/>
                </a:solidFill>
                <a:latin typeface="Calibri" panose="020F0502020204030204"/>
              </a:rPr>
              <a:t>Repeated SOS triggers from stationary and moving positions to measure alert and tracking accuracy</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Contacts setup: </a:t>
            </a:r>
            <a:r>
              <a:rPr lang="en-US" sz="2400" b="0" strike="noStrike" spc="-1">
                <a:solidFill>
                  <a:srgbClr val="000000"/>
                </a:solidFill>
                <a:latin typeface="Calibri" panose="020F0502020204030204"/>
              </a:rPr>
              <a:t>Each test account configured with multiple trusted contacts to verify simultaneous alert delivery</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Metrics captured: </a:t>
            </a:r>
            <a:r>
              <a:rPr lang="en-US" sz="2400" b="0" strike="noStrike" spc="-1">
                <a:solidFill>
                  <a:srgbClr val="000000"/>
                </a:solidFill>
                <a:latin typeface="Calibri" panose="020F0502020204030204"/>
              </a:rPr>
              <a:t>Trigger-to-notification time, location update frequency, and alert delivery success rate</a:t>
            </a: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15</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Results</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algn="just">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600" b="0" strike="noStrike" spc="-1">
                <a:solidFill>
                  <a:srgbClr val="000000"/>
                </a:solidFill>
                <a:latin typeface="Times New Roman" panose="02020603050405020304"/>
              </a:rPr>
              <a:t>Testing confirmed that the SOS Trigger Module reliably captured the device's location and dispatched an alert within a couple of seconds of the button press under normal network conditions. Trusted contacts consistently received both the initial alert and a working live-location link, and the Live Location Tracking Module kept their view of the user's position updated at short, regular intervals throughout the test scenarios. Even under weak or intermittent connectivity, the system prioritised the initial SOS alert so contacts were notified before location streaming resumed once the connection stabilised. Overall, the results show that the single-tap trigger, continuous tracking, and contact-notification pipeline work together as intended, meeting the core objective of a fast, dependable safety response.</a:t>
            </a:r>
            <a:endParaRPr lang="en-US" sz="2600" b="0" strike="noStrike" spc="-1">
              <a:solidFill>
                <a:srgbClr val="000000"/>
              </a:solidFill>
              <a:latin typeface="Calibri" panose="020F0502020204030204"/>
            </a:endParaRP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16</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Performance Evaluation</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Response time: </a:t>
            </a:r>
            <a:r>
              <a:rPr lang="en-US" sz="2400" b="0" strike="noStrike" spc="-1">
                <a:solidFill>
                  <a:srgbClr val="000000"/>
                </a:solidFill>
                <a:latin typeface="Calibri" panose="020F0502020204030204"/>
              </a:rPr>
              <a:t>SOS alerts reached trusted contacts within a few seconds on average under normal connectivity</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Tracking accuracy: </a:t>
            </a:r>
            <a:r>
              <a:rPr lang="en-US" sz="2400" b="0" strike="noStrike" spc="-1">
                <a:solidFill>
                  <a:srgbClr val="000000"/>
                </a:solidFill>
                <a:latin typeface="Calibri" panose="020F0502020204030204"/>
              </a:rPr>
              <a:t>Live location updates stayed closely aligned with the device's actual GPS position throughout testing</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Reliability under load: </a:t>
            </a:r>
            <a:r>
              <a:rPr lang="en-US" sz="2400" b="0" strike="noStrike" spc="-1">
                <a:solidFill>
                  <a:srgbClr val="000000"/>
                </a:solidFill>
                <a:latin typeface="Calibri" panose="020F0502020204030204"/>
              </a:rPr>
              <a:t>Alert delivery remained consistent when multiple emergency contacts were notified simultaneously</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Low-connectivity performance: </a:t>
            </a:r>
            <a:r>
              <a:rPr lang="en-US" sz="2400" b="0" strike="noStrike" spc="-1">
                <a:solidFill>
                  <a:srgbClr val="000000"/>
                </a:solidFill>
                <a:latin typeface="Calibri" panose="020F0502020204030204"/>
              </a:rPr>
              <a:t>The system prioritised the initial alert over continuous tracking when bandwidth was limited, preserving core functionality</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Battery and data usage: </a:t>
            </a:r>
            <a:r>
              <a:rPr lang="en-US" sz="2400" b="0" strike="noStrike" spc="-1">
                <a:solidFill>
                  <a:srgbClr val="000000"/>
                </a:solidFill>
                <a:latin typeface="Calibri" panose="020F0502020204030204"/>
              </a:rPr>
              <a:t>Location polling intervals were tuned to balance tracking freshness against battery and data consumption</a:t>
            </a: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17</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Screenshots / Working Demo</a:t>
            </a:r>
            <a:endParaRPr lang="en-US" sz="4400" b="0" strike="noStrike" spc="-1">
              <a:solidFill>
                <a:srgbClr val="000000"/>
              </a:solidFill>
              <a:latin typeface="Calibri Light" panose="020F0302020204030204"/>
            </a:endParaRPr>
          </a:p>
        </p:txBody>
      </p:sp>
      <p:sp>
        <p:nvSpPr>
          <p:cNvPr id="35" name="Text Box 34"/>
          <p:cNvSpPr txBox="1"/>
          <p:nvPr/>
        </p:nvSpPr>
        <p:spPr>
          <a:xfrm>
            <a:off x="702998" y="1139940"/>
            <a:ext cx="10515600" cy="5095800"/>
          </a:xfrm>
          <a:prstGeom prst="rect">
            <a:avLst/>
          </a:prstGeom>
          <a:noFill/>
          <a:ln w="0">
            <a:noFill/>
          </a:ln>
        </p:spPr>
        <p:txBody>
          <a:bodyPr anchor="t">
            <a:normAutofit/>
          </a:bodyPr>
          <a:lstStyle/>
          <a:p>
            <a:pPr algn="just">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600" b="0" strike="noStrike" spc="-1" dirty="0">
              <a:solidFill>
                <a:srgbClr val="000000"/>
              </a:solidFill>
              <a:latin typeface="Calibri" panose="020F0502020204030204"/>
            </a:endParaRP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18</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pic>
        <p:nvPicPr>
          <p:cNvPr id="5" name="Picture 4">
            <a:extLst>
              <a:ext uri="{FF2B5EF4-FFF2-40B4-BE49-F238E27FC236}">
                <a16:creationId xmlns:a16="http://schemas.microsoft.com/office/drawing/2014/main" id="{4D7BD103-82F6-0E00-6666-CB209F15AE95}"/>
              </a:ext>
            </a:extLst>
          </p:cNvPr>
          <p:cNvPicPr>
            <a:picLocks noChangeAspect="1"/>
          </p:cNvPicPr>
          <p:nvPr/>
        </p:nvPicPr>
        <p:blipFill>
          <a:blip r:embed="rId3"/>
          <a:stretch>
            <a:fillRect/>
          </a:stretch>
        </p:blipFill>
        <p:spPr>
          <a:xfrm>
            <a:off x="599089" y="1563840"/>
            <a:ext cx="2590920" cy="3421801"/>
          </a:xfrm>
          <a:prstGeom prst="rect">
            <a:avLst/>
          </a:prstGeom>
        </p:spPr>
      </p:pic>
      <p:pic>
        <p:nvPicPr>
          <p:cNvPr id="7" name="Picture 6">
            <a:extLst>
              <a:ext uri="{FF2B5EF4-FFF2-40B4-BE49-F238E27FC236}">
                <a16:creationId xmlns:a16="http://schemas.microsoft.com/office/drawing/2014/main" id="{E89F4FE0-6AE0-D714-1782-47DD535B2087}"/>
              </a:ext>
            </a:extLst>
          </p:cNvPr>
          <p:cNvPicPr>
            <a:picLocks noChangeAspect="1"/>
          </p:cNvPicPr>
          <p:nvPr/>
        </p:nvPicPr>
        <p:blipFill>
          <a:blip r:embed="rId4"/>
          <a:stretch>
            <a:fillRect/>
          </a:stretch>
        </p:blipFill>
        <p:spPr>
          <a:xfrm>
            <a:off x="3626427" y="1824810"/>
            <a:ext cx="3394276" cy="3678911"/>
          </a:xfrm>
          <a:prstGeom prst="rect">
            <a:avLst/>
          </a:prstGeom>
        </p:spPr>
      </p:pic>
      <p:pic>
        <p:nvPicPr>
          <p:cNvPr id="9" name="Picture 8">
            <a:extLst>
              <a:ext uri="{FF2B5EF4-FFF2-40B4-BE49-F238E27FC236}">
                <a16:creationId xmlns:a16="http://schemas.microsoft.com/office/drawing/2014/main" id="{D608BA27-867A-D573-9EB5-7AE34468E3C6}"/>
              </a:ext>
            </a:extLst>
          </p:cNvPr>
          <p:cNvPicPr>
            <a:picLocks noChangeAspect="1"/>
          </p:cNvPicPr>
          <p:nvPr/>
        </p:nvPicPr>
        <p:blipFill>
          <a:blip r:embed="rId5"/>
          <a:stretch>
            <a:fillRect/>
          </a:stretch>
        </p:blipFill>
        <p:spPr>
          <a:xfrm>
            <a:off x="7457121" y="957420"/>
            <a:ext cx="3394277" cy="4183352"/>
          </a:xfrm>
          <a:prstGeom prst="rect">
            <a:avLst/>
          </a:prstGeom>
        </p:spPr>
      </p:pic>
      <p:pic>
        <p:nvPicPr>
          <p:cNvPr id="11" name="Picture 10">
            <a:extLst>
              <a:ext uri="{FF2B5EF4-FFF2-40B4-BE49-F238E27FC236}">
                <a16:creationId xmlns:a16="http://schemas.microsoft.com/office/drawing/2014/main" id="{68A07B83-FC0A-8999-3EAF-3721C7BB871E}"/>
              </a:ext>
            </a:extLst>
          </p:cNvPr>
          <p:cNvPicPr>
            <a:picLocks noChangeAspect="1"/>
          </p:cNvPicPr>
          <p:nvPr/>
        </p:nvPicPr>
        <p:blipFill>
          <a:blip r:embed="rId4"/>
          <a:stretch>
            <a:fillRect/>
          </a:stretch>
        </p:blipFill>
        <p:spPr>
          <a:xfrm>
            <a:off x="3560563" y="1461861"/>
            <a:ext cx="3394276" cy="367891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94B98-0F41-0F86-923C-CBFA7C336DB6}"/>
            </a:ext>
          </a:extLst>
        </p:cNvPr>
        <p:cNvGrpSpPr/>
        <p:nvPr/>
      </p:nvGrpSpPr>
      <p:grpSpPr>
        <a:xfrm>
          <a:off x="0" y="0"/>
          <a:ext cx="0" cy="0"/>
          <a:chOff x="0" y="0"/>
          <a:chExt cx="0" cy="0"/>
        </a:xfrm>
      </p:grpSpPr>
      <p:sp>
        <p:nvSpPr>
          <p:cNvPr id="34" name="PlaceHolder 1">
            <a:extLst>
              <a:ext uri="{FF2B5EF4-FFF2-40B4-BE49-F238E27FC236}">
                <a16:creationId xmlns:a16="http://schemas.microsoft.com/office/drawing/2014/main" id="{CD640BCF-2C56-3C61-F64D-D7DEED214371}"/>
              </a:ext>
            </a:extLst>
          </p:cNvPr>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Screenshots / Working Demo</a:t>
            </a:r>
            <a:endParaRPr lang="en-US" sz="4400" b="0" strike="noStrike" spc="-1">
              <a:solidFill>
                <a:srgbClr val="000000"/>
              </a:solidFill>
              <a:latin typeface="Calibri Light" panose="020F0302020204030204"/>
            </a:endParaRPr>
          </a:p>
        </p:txBody>
      </p:sp>
      <p:sp>
        <p:nvSpPr>
          <p:cNvPr id="36" name="Slide Number Placeholder 2">
            <a:extLst>
              <a:ext uri="{FF2B5EF4-FFF2-40B4-BE49-F238E27FC236}">
                <a16:creationId xmlns:a16="http://schemas.microsoft.com/office/drawing/2014/main" id="{C713F293-0577-0AE9-1B6B-B5BD74EADC27}"/>
              </a:ext>
            </a:extLst>
          </p:cNvPr>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19</a:t>
            </a:fld>
            <a:endParaRPr lang="en-US" sz="1200" b="0" strike="noStrike" spc="-1">
              <a:solidFill>
                <a:srgbClr val="000000"/>
              </a:solidFill>
              <a:latin typeface="Calibri" panose="020F0502020204030204"/>
            </a:endParaRPr>
          </a:p>
        </p:txBody>
      </p:sp>
      <p:sp>
        <p:nvSpPr>
          <p:cNvPr id="37" name="Rounded Rectangle 4">
            <a:extLst>
              <a:ext uri="{FF2B5EF4-FFF2-40B4-BE49-F238E27FC236}">
                <a16:creationId xmlns:a16="http://schemas.microsoft.com/office/drawing/2014/main" id="{92321F2B-3099-A9FD-5649-61F13652A411}"/>
              </a:ext>
            </a:extLst>
          </p:cNvPr>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a:extLst>
              <a:ext uri="{FF2B5EF4-FFF2-40B4-BE49-F238E27FC236}">
                <a16:creationId xmlns:a16="http://schemas.microsoft.com/office/drawing/2014/main" id="{7E48652C-2BC7-16E2-57A1-0E84F4182724}"/>
              </a:ext>
            </a:extLst>
          </p:cNvPr>
          <p:cNvPicPr/>
          <p:nvPr/>
        </p:nvPicPr>
        <p:blipFill>
          <a:blip r:embed="rId2"/>
          <a:stretch>
            <a:fillRect/>
          </a:stretch>
        </p:blipFill>
        <p:spPr>
          <a:xfrm>
            <a:off x="10493280" y="0"/>
            <a:ext cx="1865520" cy="898560"/>
          </a:xfrm>
          <a:prstGeom prst="rect">
            <a:avLst/>
          </a:prstGeom>
          <a:ln w="0">
            <a:noFill/>
          </a:ln>
        </p:spPr>
      </p:pic>
      <p:pic>
        <p:nvPicPr>
          <p:cNvPr id="3" name="Picture 2">
            <a:extLst>
              <a:ext uri="{FF2B5EF4-FFF2-40B4-BE49-F238E27FC236}">
                <a16:creationId xmlns:a16="http://schemas.microsoft.com/office/drawing/2014/main" id="{4CFDE1E8-0489-0179-D949-2D912B24F3A3}"/>
              </a:ext>
            </a:extLst>
          </p:cNvPr>
          <p:cNvPicPr>
            <a:picLocks noChangeAspect="1"/>
          </p:cNvPicPr>
          <p:nvPr/>
        </p:nvPicPr>
        <p:blipFill>
          <a:blip r:embed="rId3"/>
          <a:stretch>
            <a:fillRect/>
          </a:stretch>
        </p:blipFill>
        <p:spPr>
          <a:xfrm>
            <a:off x="838080" y="1381320"/>
            <a:ext cx="10344006" cy="4728368"/>
          </a:xfrm>
          <a:prstGeom prst="rect">
            <a:avLst/>
          </a:prstGeom>
        </p:spPr>
      </p:pic>
    </p:spTree>
    <p:extLst>
      <p:ext uri="{BB962C8B-B14F-4D97-AF65-F5344CB8AC3E}">
        <p14:creationId xmlns:p14="http://schemas.microsoft.com/office/powerpoint/2010/main" val="1756053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Comparison with Existing System</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Alert method: </a:t>
            </a:r>
            <a:r>
              <a:rPr lang="en-US" sz="2400" b="0" strike="noStrike" spc="-1">
                <a:solidFill>
                  <a:srgbClr val="000000"/>
                </a:solidFill>
                <a:latin typeface="Calibri" panose="020F0502020204030204"/>
              </a:rPr>
              <a:t>Existing systems mostly rely on manual calls or messages; the proposed app uses a single-tap automated SOS trigger</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Location sharing: </a:t>
            </a:r>
            <a:r>
              <a:rPr lang="en-US" sz="2400" b="0" strike="noStrike" spc="-1">
                <a:solidFill>
                  <a:srgbClr val="000000"/>
                </a:solidFill>
                <a:latin typeface="Calibri" panose="020F0502020204030204"/>
              </a:rPr>
              <a:t>Existing apps typically send a one-time location; the proposed system provides continuous live tracking until resolved</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Interaction required: </a:t>
            </a:r>
            <a:r>
              <a:rPr lang="en-US" sz="2400" b="0" strike="noStrike" spc="-1">
                <a:solidFill>
                  <a:srgbClr val="000000"/>
                </a:solidFill>
                <a:latin typeface="Calibri" panose="020F0502020204030204"/>
              </a:rPr>
              <a:t>Existing solutions often need multiple taps or steps; the proposed app minimises interaction for high-stress use</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Connectivity handling: </a:t>
            </a:r>
            <a:r>
              <a:rPr lang="en-US" sz="2400" b="0" strike="noStrike" spc="-1">
                <a:solidFill>
                  <a:srgbClr val="000000"/>
                </a:solidFill>
                <a:latin typeface="Calibri" panose="020F0502020204030204"/>
              </a:rPr>
              <a:t>Many existing apps depend on stable internet; the proposed system prioritises alert delivery even under weak connectivity</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Contact management: </a:t>
            </a:r>
            <a:r>
              <a:rPr lang="en-US" sz="2400" b="0" strike="noStrike" spc="-1">
                <a:solidFill>
                  <a:srgbClr val="000000"/>
                </a:solidFill>
                <a:latin typeface="Calibri" panose="020F0502020204030204"/>
              </a:rPr>
              <a:t>Existing tools rarely integrate contact management and location sharing seamlessly; the proposed app combines both in one flow</a:t>
            </a: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20</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Challenges &amp; Solutions</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Challenge – Unreliable networks: </a:t>
            </a:r>
            <a:r>
              <a:rPr lang="en-US" sz="2400" b="0" strike="noStrike" spc="-1">
                <a:solidFill>
                  <a:srgbClr val="000000"/>
                </a:solidFill>
                <a:latin typeface="Calibri" panose="020F0502020204030204"/>
              </a:rPr>
              <a:t>Solution — the alert pipeline was designed to prioritise the initial SOS message over continuous tracking data when bandwidth is limited</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Challenge – Battery drain from continuous GPS: </a:t>
            </a:r>
            <a:r>
              <a:rPr lang="en-US" sz="2400" b="0" strike="noStrike" spc="-1">
                <a:solidFill>
                  <a:srgbClr val="000000"/>
                </a:solidFill>
                <a:latin typeface="Calibri" panose="020F0502020204030204"/>
              </a:rPr>
              <a:t>Solution — polling intervals were tuned and background tracking optimised to balance accuracy with power usage</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Challenge – Minimising interaction under stress: </a:t>
            </a:r>
            <a:r>
              <a:rPr lang="en-US" sz="2400" b="0" strike="noStrike" spc="-1">
                <a:solidFill>
                  <a:srgbClr val="000000"/>
                </a:solidFill>
                <a:latin typeface="Calibri" panose="020F0502020204030204"/>
              </a:rPr>
              <a:t>Solution — the interface was reduced to a single prominent button with no confirmation steps</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Challenge – Ensuring guardians actually receive alerts: </a:t>
            </a:r>
            <a:r>
              <a:rPr lang="en-US" sz="2400" b="0" strike="noStrike" spc="-1">
                <a:solidFill>
                  <a:srgbClr val="000000"/>
                </a:solidFill>
                <a:latin typeface="Calibri" panose="020F0502020204030204"/>
              </a:rPr>
              <a:t>Solution — delivery status tracking and an SMS fallback were added alongside push notifications</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strike="noStrike" spc="-1">
                <a:solidFill>
                  <a:srgbClr val="002060"/>
                </a:solidFill>
                <a:latin typeface="Calibri" panose="020F0502020204030204"/>
              </a:rPr>
              <a:t>Challenge – Protecting sensitive location data: </a:t>
            </a:r>
            <a:r>
              <a:rPr lang="en-US" sz="2400" b="0" strike="noStrike" spc="-1">
                <a:solidFill>
                  <a:srgbClr val="000000"/>
                </a:solidFill>
                <a:latin typeface="Calibri" panose="020F0502020204030204"/>
              </a:rPr>
              <a:t>Solution — encrypted transmission and secure, time-limited storage of live location history were implemented</a:t>
            </a: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21</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Future Work</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Direct integration with local police control rooms for automated emergency escalation</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Voice-activated SOS triggers for hands-free activation in situations where reaching the phone is difficult</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Offline alert queuing so alerts are sent automatically once connectivity is restored</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Wearable device integration (smartwatches) for even faster access to the SOS trigger</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Machine-learning-based anomaly detection to flag unusual movement patterns automatically</a:t>
            </a: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22</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Conclusion</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algn="just">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600" b="0" strike="noStrike" spc="-1">
                <a:solidFill>
                  <a:srgbClr val="000000"/>
                </a:solidFill>
                <a:latin typeface="Times New Roman" panose="02020603050405020304"/>
              </a:rPr>
              <a:t>The Women Safety App provides a practical and accessible way to improve personal safety through an instant SOS alert combined with continuous live location tracking. By reducing the number of steps needed to raise an alarm and keeping trusted contacts updated in real time, the system aims to shorten emergency response time and improve the chances of timely help. The proposed architecture is lightweight on the user's device while still supporting reliable alerting and tracking through the backend. Future enhancements could include direct integration with local police control rooms, voice-activated SOS triggers, and offline alert queuing for areas with poor connectivity, further strengthening the app's reliability and reach.</a:t>
            </a:r>
            <a:endParaRPr lang="en-US" sz="2600" b="0" strike="noStrike" spc="-1">
              <a:solidFill>
                <a:srgbClr val="000000"/>
              </a:solidFill>
              <a:latin typeface="Calibri" panose="020F0502020204030204"/>
            </a:endParaRP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23</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strike="noStrike" spc="-1">
                <a:solidFill>
                  <a:srgbClr val="002060"/>
                </a:solidFill>
                <a:latin typeface="Times New Roman" panose="02020603050405020304"/>
              </a:rPr>
              <a:t>References</a:t>
            </a:r>
            <a:endParaRPr lang="en-US" sz="4400" b="0" strike="noStrike" spc="-1">
              <a:solidFill>
                <a:srgbClr val="000000"/>
              </a:solidFill>
              <a:latin typeface="Calibri Light" panose="020F0302020204030204"/>
            </a:endParaRPr>
          </a:p>
        </p:txBody>
      </p:sp>
      <p:sp>
        <p:nvSpPr>
          <p:cNvPr id="35" name="Text Box 34"/>
          <p:cNvSpPr txBox="1"/>
          <p:nvPr/>
        </p:nvSpPr>
        <p:spPr>
          <a:xfrm>
            <a:off x="838080" y="1080720"/>
            <a:ext cx="10515600" cy="5095800"/>
          </a:xfrm>
          <a:prstGeom prst="rect">
            <a:avLst/>
          </a:prstGeom>
          <a:noFill/>
          <a:ln w="0">
            <a:noFill/>
          </a:ln>
        </p:spPr>
        <p:txBody>
          <a:bodyPr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National Crime Records Bureau (NCRB), "Crime in India" annual report, Ministry of Home Affairs, Government of India.</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S. Sharma et al., "A Survey on Women Safety Mobile Applications," International Journal of Computer Applications.</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Google Developers, "Location and Context — Android Developer Documentation," developer.android.com.</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Firebase Documentation, "Firebase Cloud Messaging," firebase.google.com/docs/cloud-messaging.</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R. Kumar and P. Singh, "Real-Time GPS Tracking Systems: A Review," International Conference on Computing and Communication Technologies.</a:t>
            </a:r>
          </a:p>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strike="noStrike" spc="-1">
                <a:solidFill>
                  <a:srgbClr val="000000"/>
                </a:solidFill>
                <a:latin typeface="Calibri" panose="020F0502020204030204"/>
              </a:rPr>
              <a:t>OpenStreetMap / Google Maps Platform Documentation, "Maps and Location APIs."</a:t>
            </a:r>
          </a:p>
        </p:txBody>
      </p:sp>
      <p:sp>
        <p:nvSpPr>
          <p:cNvPr id="36" name="Slide Number Placeholder 2"/>
          <p:cNvSpPr/>
          <p:nvPr/>
        </p:nvSpPr>
        <p:spPr>
          <a:xfrm>
            <a:off x="9067680" y="6176880"/>
            <a:ext cx="2743200" cy="365040"/>
          </a:xfrm>
          <a:prstGeom prst="rect">
            <a:avLst/>
          </a:prstGeom>
          <a:noFill/>
          <a:ln w="0">
            <a:noFill/>
          </a:ln>
        </p:spPr>
        <p:style>
          <a:lnRef idx="0">
            <a:srgbClr val="FFFFFF"/>
          </a:lnRef>
          <a:fillRef idx="0">
            <a:srgbClr val="FFFFFF"/>
          </a:fillRef>
          <a:effectRef idx="0">
            <a:srgbClr val="FFFFFF"/>
          </a:effectRef>
          <a:fontRef idx="minor"/>
        </p:style>
        <p:txBody>
          <a:bodyPr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077198-5B2D-4EE7-837B-518ECA768EBE}" type="slidenum">
              <a:rPr lang="en-IN" sz="1200" b="1" strike="noStrike" spc="-1">
                <a:solidFill>
                  <a:srgbClr val="C00000"/>
                </a:solidFill>
                <a:latin typeface="Calibri" panose="020F0502020204030204"/>
              </a:rPr>
              <a:t>24</a:t>
            </a:fld>
            <a:endParaRPr lang="en-US" sz="1200" b="0" strike="noStrike" spc="-1">
              <a:solidFill>
                <a:srgbClr val="000000"/>
              </a:solidFill>
              <a:latin typeface="Calibri" panose="020F0502020204030204"/>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rgbClr val="FFFFFF"/>
          </a:lnRef>
          <a:fillRef idx="0">
            <a:srgbClr val="FFFFFF"/>
          </a:fillRef>
          <a:effectRef idx="0">
            <a:srgbClr val="FFFFFF"/>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strike="noStrike" spc="-1">
                <a:solidFill>
                  <a:srgbClr val="000000"/>
                </a:solidFill>
                <a:latin typeface="Arial Rounded MT Bold" panose="020F0704030504030204"/>
              </a:rPr>
              <a:t>B.Tech III Year – II Sem | Dept of CSIT | Project Review</a:t>
            </a:r>
            <a:endParaRPr lang="en-US" sz="1600" b="0" strike="noStrike" spc="-1">
              <a:solidFill>
                <a:srgbClr val="000000"/>
              </a:solidFill>
              <a:latin typeface="Calibri" panose="020F0502020204030204"/>
            </a:endParaRPr>
          </a:p>
        </p:txBody>
      </p:sp>
      <p:pic>
        <p:nvPicPr>
          <p:cNvPr id="38" name="Picture 7"/>
          <p:cNvPicPr/>
          <p:nvPr/>
        </p:nvPicPr>
        <p:blipFill>
          <a:blip r:embed="rId2"/>
          <a:stretch>
            <a:fillRect/>
          </a:stretch>
        </p:blipFill>
        <p:spPr>
          <a:xfrm>
            <a:off x="10493280" y="0"/>
            <a:ext cx="1865520" cy="898560"/>
          </a:xfrm>
          <a:prstGeom prst="rect">
            <a:avLst/>
          </a:prstGeom>
          <a:ln w="0">
            <a:noFill/>
          </a:ln>
        </p:spPr>
      </p:pic>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2804</Words>
  <Application>Microsoft Office PowerPoint</Application>
  <PresentationFormat>Custom</PresentationFormat>
  <Paragraphs>146</Paragraphs>
  <Slides>24</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Arial</vt:lpstr>
      <vt:lpstr>Arial Rounded MT Bold</vt:lpstr>
      <vt:lpstr>Calibri</vt:lpstr>
      <vt:lpstr>Calibri Light</vt:lpstr>
      <vt:lpstr>Times New Roman</vt:lpstr>
      <vt:lpstr>Office</vt:lpstr>
      <vt:lpstr>Office</vt:lpstr>
      <vt:lpstr>PowerPoint Presentation</vt:lpstr>
      <vt:lpstr>Abstract</vt:lpstr>
      <vt:lpstr>Problem Statement</vt:lpstr>
      <vt:lpstr>Motivation</vt:lpstr>
      <vt:lpstr>Objectives</vt:lpstr>
      <vt:lpstr>Literature Survey</vt:lpstr>
      <vt:lpstr>Research Gap</vt:lpstr>
      <vt:lpstr>Proposed Methodology</vt:lpstr>
      <vt:lpstr>PowerPoint Presentation</vt:lpstr>
      <vt:lpstr>Technologies Used</vt:lpstr>
      <vt:lpstr>Dataset / Input Details</vt:lpstr>
      <vt:lpstr>Implementation – SOS Trigger Module</vt:lpstr>
      <vt:lpstr>Implementation – Live Tracking</vt:lpstr>
      <vt:lpstr>Implementation – Contact Module</vt:lpstr>
      <vt:lpstr>Experimental Setup</vt:lpstr>
      <vt:lpstr>Results</vt:lpstr>
      <vt:lpstr>Performance Evaluation</vt:lpstr>
      <vt:lpstr>Screenshots / Working Demo</vt:lpstr>
      <vt:lpstr>Screenshots / Working Demo</vt:lpstr>
      <vt:lpstr>Comparison with Existing System</vt:lpstr>
      <vt:lpstr>Challenges &amp; Solutions</vt:lpstr>
      <vt:lpstr>Future Work</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R.BHANU PRIYA</dc:creator>
  <cp:lastModifiedBy>RAMANAGARI AKHILREDDY</cp:lastModifiedBy>
  <cp:revision>7</cp:revision>
  <dcterms:created xsi:type="dcterms:W3CDTF">2026-08-26T05:49:00Z</dcterms:created>
  <dcterms:modified xsi:type="dcterms:W3CDTF">2026-10-03T03:36:50Z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3674A38DCA7B4F7FBE05575A7903EE56_13</vt:lpwstr>
  </property>
  <property fmtid="{D5CDD505-2E9C-101B-9397-08002B2CF9AE}" pid="3" name="KSOProductBuildVer">
    <vt:lpwstr>1033-12.1.0.28032</vt:lpwstr>
  </property>
</Properties>
</file>